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4.png"/><Relationship Id="rId2" Type="http://schemas.openxmlformats.org/officeDocument/2006/relationships/tags" Target="../tags/tag20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4.png"/><Relationship Id="rId2" Type="http://schemas.openxmlformats.org/officeDocument/2006/relationships/tags" Target="../tags/tag29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image" Target="../media/image5.png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演示文稿2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395764" y="3654743"/>
            <a:ext cx="5189696" cy="2762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5000" lnSpcReduction="1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74764"/>
          <a:stretch>
            <a:fillRect/>
          </a:stretch>
        </p:blipFill>
        <p:spPr>
          <a:xfrm>
            <a:off x="395831" y="1288477"/>
            <a:ext cx="3236459" cy="184666"/>
          </a:xfrm>
          <a:prstGeom prst="rect">
            <a:avLst/>
          </a:prstGeom>
        </p:spPr>
      </p:pic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713261" y="4911469"/>
            <a:ext cx="73716" cy="73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639431" y="4911469"/>
            <a:ext cx="73716" cy="7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385286" y="5069205"/>
            <a:ext cx="2563178" cy="3371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2"/>
            </p:custDataLst>
          </p:nvPr>
        </p:nvSpPr>
        <p:spPr>
          <a:xfrm>
            <a:off x="385286" y="2975610"/>
            <a:ext cx="6238399" cy="11444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60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391478" y="2630329"/>
            <a:ext cx="6232684" cy="345281"/>
          </a:xfrm>
          <a:prstGeom prst="rect">
            <a:avLst/>
          </a:prstGeom>
          <a:noFill/>
          <a:ln>
            <a:noFill/>
          </a:ln>
        </p:spPr>
        <p:txBody>
          <a:bodyPr wrap="square" lIns="10795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1" u="none" strike="noStrike" kern="1200" cap="none" spc="130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>
              <a:buClrTx/>
              <a:buSzTx/>
              <a:buFontTx/>
            </a:pPr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456300" y="1818494"/>
            <a:ext cx="8226900" cy="372595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flipH="1">
            <a:off x="0" y="857250"/>
            <a:ext cx="9144000" cy="51435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 userDrawn="1">
            <p:custDataLst>
              <p:tags r:id="rId5"/>
            </p:custDataLst>
          </p:nvPr>
        </p:nvSpPr>
        <p:spPr>
          <a:xfrm>
            <a:off x="495301" y="1636395"/>
            <a:ext cx="2387859" cy="24288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直角三角形 7"/>
          <p:cNvSpPr/>
          <p:nvPr userDrawn="1">
            <p:custDataLst>
              <p:tags r:id="rId6"/>
            </p:custDataLst>
          </p:nvPr>
        </p:nvSpPr>
        <p:spPr>
          <a:xfrm flipH="1">
            <a:off x="2686050" y="1707302"/>
            <a:ext cx="109105" cy="10910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74764"/>
          <a:stretch>
            <a:fillRect/>
          </a:stretch>
        </p:blipFill>
        <p:spPr>
          <a:xfrm flipH="1">
            <a:off x="5445986" y="1636616"/>
            <a:ext cx="3236459" cy="184666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548645" y="1328445"/>
            <a:ext cx="1074167" cy="55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 marL="0" marR="0" lvl="0" algn="di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50" b="0" i="1" u="none" strike="noStrike" kern="1200" cap="none" spc="0" normalizeH="0" baseline="0" noProof="1" dirty="0">
                <a:ln w="3175"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dist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 flipH="1">
            <a:off x="0" y="857250"/>
            <a:ext cx="9144000" cy="51435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7" name="그래픽 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74764"/>
          <a:stretch>
            <a:fillRect/>
          </a:stretch>
        </p:blipFill>
        <p:spPr>
          <a:xfrm>
            <a:off x="803025" y="1526126"/>
            <a:ext cx="3236459" cy="184666"/>
          </a:xfrm>
          <a:prstGeom prst="rect">
            <a:avLst/>
          </a:prstGeom>
        </p:spPr>
      </p:pic>
      <p:sp>
        <p:nvSpPr>
          <p:cNvPr id="29" name="矩形 28"/>
          <p:cNvSpPr/>
          <p:nvPr userDrawn="1">
            <p:custDataLst>
              <p:tags r:id="rId8"/>
            </p:custDataLst>
          </p:nvPr>
        </p:nvSpPr>
        <p:spPr>
          <a:xfrm>
            <a:off x="689746" y="5239255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30" name="矩形 29"/>
          <p:cNvSpPr/>
          <p:nvPr userDrawn="1">
            <p:custDataLst>
              <p:tags r:id="rId9"/>
            </p:custDataLst>
          </p:nvPr>
        </p:nvSpPr>
        <p:spPr>
          <a:xfrm>
            <a:off x="880944" y="5163422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7" name="矩形 26"/>
          <p:cNvSpPr/>
          <p:nvPr userDrawn="1">
            <p:custDataLst>
              <p:tags r:id="rId10"/>
            </p:custDataLst>
          </p:nvPr>
        </p:nvSpPr>
        <p:spPr>
          <a:xfrm>
            <a:off x="5184458" y="4427220"/>
            <a:ext cx="3223260" cy="184309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11"/>
            </p:custDataLst>
          </p:nvPr>
        </p:nvSpPr>
        <p:spPr>
          <a:xfrm>
            <a:off x="3564903" y="1710792"/>
            <a:ext cx="4842815" cy="21415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0500" b="0" i="1" u="none" strike="noStrike" kern="1200" cap="none" spc="0" normalizeH="0" baseline="0" noProof="1" dirty="0">
                <a:ln w="3175"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 err="1">
                <a:sym typeface="+mn-ea"/>
              </a:rPr>
              <a:t>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3564903" y="3774240"/>
            <a:ext cx="4842815" cy="1063369"/>
          </a:xfrm>
          <a:prstGeom prst="rect">
            <a:avLst/>
          </a:prstGeom>
          <a:noFill/>
        </p:spPr>
        <p:txBody>
          <a:bodyPr wrap="square" lIns="0" tIns="0" rIns="7200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95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4800604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456300" y="197501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"/>
          <p:cNvSpPr txBox="1">
            <a:spLocks noGrp="1"/>
          </p:cNvSpPr>
          <p:nvPr>
            <p:ph idx="7"/>
            <p:custDataLst>
              <p:tags r:id="rId2"/>
            </p:custDataLst>
          </p:nvPr>
        </p:nvSpPr>
        <p:spPr>
          <a:xfrm>
            <a:off x="46764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3"/>
            </p:custDataLst>
          </p:nvPr>
        </p:nvSpPr>
        <p:spPr>
          <a:xfrm>
            <a:off x="4676299" y="1895475"/>
            <a:ext cx="4006691" cy="33385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/>
            <p:custDataLst>
              <p:tags r:id="rId4"/>
            </p:custDataLst>
          </p:nvPr>
        </p:nvSpPr>
        <p:spPr>
          <a:xfrm>
            <a:off x="456300" y="224775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5"/>
            </p:custDataLst>
          </p:nvPr>
        </p:nvSpPr>
        <p:spPr>
          <a:xfrm>
            <a:off x="456248" y="1895475"/>
            <a:ext cx="4006691" cy="33385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8"/>
            </p:custDataLst>
          </p:nvPr>
        </p:nvSpPr>
        <p:spPr>
          <a:xfrm>
            <a:off x="52110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521970" y="112728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rgbClr val="FFFFFF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521970" y="1833563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0" i="0" u="none" strike="noStrike" kern="1200" cap="none" spc="300" normalizeH="0" baseline="0" noProof="1" dirty="0">
                <a:solidFill>
                  <a:srgbClr val="FFFFFF"/>
                </a:solidFill>
                <a:latin typeface="+mn-ea"/>
                <a:ea typeface="+mn-ea"/>
                <a:cs typeface="MiSans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2_0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7" name="矩形 26"/>
          <p:cNvSpPr/>
          <p:nvPr userDrawn="1">
            <p:custDataLst>
              <p:tags r:id="rId5"/>
            </p:custDataLst>
          </p:nvPr>
        </p:nvSpPr>
        <p:spPr>
          <a:xfrm>
            <a:off x="395764" y="3654743"/>
            <a:ext cx="5189696" cy="2762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5000" lnSpcReduction="1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pic>
        <p:nvPicPr>
          <p:cNvPr id="20" name="그래픽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 t="74764"/>
          <a:stretch>
            <a:fillRect/>
          </a:stretch>
        </p:blipFill>
        <p:spPr>
          <a:xfrm>
            <a:off x="395831" y="1288477"/>
            <a:ext cx="3236459" cy="184666"/>
          </a:xfrm>
          <a:prstGeom prst="rect">
            <a:avLst/>
          </a:prstGeom>
        </p:spPr>
      </p:pic>
      <p:sp>
        <p:nvSpPr>
          <p:cNvPr id="21" name="矩形 20"/>
          <p:cNvSpPr/>
          <p:nvPr userDrawn="1">
            <p:custDataLst>
              <p:tags r:id="rId8"/>
            </p:custDataLst>
          </p:nvPr>
        </p:nvSpPr>
        <p:spPr>
          <a:xfrm>
            <a:off x="713261" y="4911644"/>
            <a:ext cx="73716" cy="737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23" name="矩形 22"/>
          <p:cNvSpPr/>
          <p:nvPr userDrawn="1">
            <p:custDataLst>
              <p:tags r:id="rId9"/>
            </p:custDataLst>
          </p:nvPr>
        </p:nvSpPr>
        <p:spPr>
          <a:xfrm>
            <a:off x="639431" y="4911469"/>
            <a:ext cx="73716" cy="7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kumimoji="1" lang="zh-CN" altLang="en-US" sz="1350">
              <a:cs typeface="MiSans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0"/>
            </p:custDataLst>
          </p:nvPr>
        </p:nvSpPr>
        <p:spPr>
          <a:xfrm>
            <a:off x="385286" y="5069205"/>
            <a:ext cx="1431608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ea typeface="+mn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385286" y="2975610"/>
            <a:ext cx="5565458" cy="11444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600" b="0" i="1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image" Target="../media/image4.png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2_0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lum contrast="12000"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14"/>
            </p:custDataLst>
          </p:nvPr>
        </p:nvSpPr>
        <p:spPr>
          <a:xfrm flipH="1">
            <a:off x="0" y="857250"/>
            <a:ext cx="9144000" cy="5143500"/>
          </a:xfrm>
          <a:prstGeom prst="rect">
            <a:avLst/>
          </a:prstGeom>
          <a:gradFill>
            <a:gsLst>
              <a:gs pos="100000">
                <a:schemeClr val="accent1">
                  <a:alpha val="30000"/>
                </a:schemeClr>
              </a:gs>
              <a:gs pos="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>
            <p:custDataLst>
              <p:tags r:id="rId15"/>
            </p:custDataLst>
          </p:nvPr>
        </p:nvSpPr>
        <p:spPr>
          <a:xfrm>
            <a:off x="281363" y="1291262"/>
            <a:ext cx="191198" cy="1911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13" name="矩形 12"/>
          <p:cNvSpPr/>
          <p:nvPr userDrawn="1">
            <p:custDataLst>
              <p:tags r:id="rId16"/>
            </p:custDataLst>
          </p:nvPr>
        </p:nvSpPr>
        <p:spPr>
          <a:xfrm>
            <a:off x="472562" y="1215429"/>
            <a:ext cx="74239" cy="74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bg1"/>
              </a:solidFill>
              <a:cs typeface="MiSans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cs typeface="MiSans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Tx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Char char="●"/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Char char="●"/>
            </a:pPr>
            <a:r>
              <a:rPr lang="zh-CN" altLang="en-US" dirty="0"/>
              <a:t>三级</a:t>
            </a:r>
            <a:endParaRPr lang="zh-CN" altLang="en-US" dirty="0"/>
          </a:p>
          <a:p>
            <a:pPr marR="0" lvl="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Font typeface="Wingdings" panose="05000000000000000000" charset="0"/>
              <a:buChar char=""/>
            </a:pPr>
            <a:r>
              <a:rPr lang="zh-CN" altLang="en-US" dirty="0"/>
              <a:t>四级</a:t>
            </a:r>
            <a:endParaRPr lang="zh-CN" altLang="en-US" dirty="0"/>
          </a:p>
          <a:p>
            <a:pPr marR="0" lvl="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</a:pP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400" b="0" i="0" u="none" strike="noStrike" kern="1200" cap="none" spc="300" normalizeH="0" baseline="0" smtClean="0">
          <a:ln>
            <a:noFill/>
            <a:prstDash val="sysDot"/>
          </a:ln>
          <a:solidFill>
            <a:srgbClr val="FFFFFF"/>
          </a:solidFill>
          <a:latin typeface="+mj-ea"/>
          <a:ea typeface="+mj-ea"/>
          <a:cs typeface="MiSans" panose="00000500000000000000" charset="-122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zh-CN" altLang="en-US" sz="1350" b="0" i="0" u="none" strike="noStrike" kern="1200" cap="none" spc="150" normalizeH="0" baseline="0" dirty="0" smtClean="0">
          <a:ln>
            <a:noFill/>
            <a:prstDash val="sysDot"/>
          </a:ln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05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zh-CN" altLang="en-US" sz="105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  <a:ea typeface="+mn-ea"/>
          <a:cs typeface="MiSans" panose="00000500000000000000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395605" y="2708910"/>
            <a:ext cx="8110855" cy="1591310"/>
          </a:xfrm>
        </p:spPr>
        <p:txBody>
          <a:bodyPr>
            <a:noAutofit/>
          </a:bodyPr>
          <a:lstStyle/>
          <a:p>
            <a:r>
              <a:rPr lang="en-US" altLang="zh-CN" sz="3600"/>
              <a:t>Digitaler Selbstverteidigung oder Cyberkriminalität ?</a:t>
            </a:r>
            <a:endParaRPr lang="en-US" altLang="zh-CN" sz="36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1970" y="1127125"/>
            <a:ext cx="8268335" cy="4363720"/>
          </a:xfrm>
        </p:spPr>
        <p:txBody>
          <a:bodyPr>
            <a:noAutofit/>
          </a:bodyPr>
          <a:p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FRAGSTELLUNG</a:t>
            </a:r>
            <a:r>
              <a:rPr lang="de-DE" sz="3200">
                <a:latin typeface="Arial Rounded MT Bold" panose="020F0704030504030204" charset="0"/>
                <a:cs typeface="Arial Rounded MT Bold" panose="020F0704030504030204" charset="0"/>
              </a:rPr>
              <a:t>:</a:t>
            </a:r>
            <a:endParaRPr lang="de-DE" sz="32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>
              <a:buNone/>
            </a:pP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Wir sind jeden Tag online – aber wei</a:t>
            </a:r>
            <a:r>
              <a:rPr lang="en-US" altLang="en-US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ß</a:t>
            </a: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 du, wo die Grenze zwischen Selbstschutz und Kriminalit</a:t>
            </a:r>
            <a:r>
              <a:rPr lang="en-US" altLang="en-US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ä</a:t>
            </a: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 liegt?</a:t>
            </a:r>
            <a:endParaRPr lang="en-US" altLang="zh-CN" sz="24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Ein Beispiel zum Überlegen:</a:t>
            </a:r>
            <a:endParaRPr altLang="zh-CN" sz="32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>
              <a:buNone/>
            </a:pP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Bei einer Spam</a:t>
            </a:r>
            <a:r>
              <a:rPr lang="de-DE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-</a:t>
            </a: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SMS, Optionen:</a:t>
            </a:r>
            <a:endParaRPr lang="de-DE" sz="24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1.E</a:t>
            </a:r>
            <a:r>
              <a:rPr lang="en-US" altLang="zh-CN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infach blockieren</a:t>
            </a:r>
            <a:endParaRPr lang="en-US" altLang="zh-CN" sz="20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2.Z</a:t>
            </a:r>
            <a:r>
              <a:rPr lang="en-US" altLang="zh-CN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ur</a:t>
            </a:r>
            <a:r>
              <a:rPr lang="en-US" altLang="en-US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ü</a:t>
            </a:r>
            <a:r>
              <a:rPr lang="en-US" altLang="zh-CN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ckverfolgen oder sogar mit technischen Mitteln </a:t>
            </a:r>
            <a:r>
              <a:rPr lang="de-DE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</a:t>
            </a:r>
            <a:endParaRPr lang="de-DE" sz="20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 </a:t>
            </a:r>
            <a:r>
              <a:rPr lang="en-US" altLang="zh-CN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zur</a:t>
            </a:r>
            <a:r>
              <a:rPr lang="en-US" altLang="en-US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ü</a:t>
            </a:r>
            <a:r>
              <a:rPr lang="en-US" altLang="zh-CN" sz="20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ckangreifen</a:t>
            </a:r>
            <a:endParaRPr lang="en-US" altLang="zh-CN" sz="20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0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39750" y="1124744"/>
            <a:ext cx="8101489" cy="4363403"/>
          </a:xfrm>
        </p:spPr>
        <p:txBody>
          <a:bodyPr>
            <a:noAutofit/>
          </a:bodyPr>
          <a:p>
            <a:pPr algn="l"/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Was ist digitale Selbstverteidigung?</a:t>
            </a:r>
            <a:endParaRPr lang="en-US" altLang="zh-CN" sz="28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zh-CN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Legale Schutzmaßnahmen: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Starke Passwörter für Konten verwenden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Firewall und Antivirensoftware installieren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Keine verdächtigen Links anklicken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Wichtige Daten regelmäßig sichern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VPN zur Wahrung der Privatsphäre nutzen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Persönliche Dateien verschlüsseln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Genauso wie: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lnSpc>
                <a:spcPct val="10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ein T</a:t>
            </a: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ü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rschloss zu Hause.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7360" y="980599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35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  <a:sym typeface="+mn-ea"/>
              </a:defRPr>
            </a:lvl1pPr>
            <a:lvl2pPr marL="514350" marR="0" lvl="1" indent="-17145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2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</a:defRPr>
            </a:lvl2pPr>
            <a:lvl3pPr marL="857250" marR="0" lvl="2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2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</a:defRPr>
            </a:lvl3pPr>
            <a:lvl4pPr marL="1200150" marR="0" lvl="3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05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</a:defRPr>
            </a:lvl4pPr>
            <a:lvl5pPr marL="1543050" marR="0" lvl="4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05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  <a:ea typeface="+mn-ea"/>
                <a:cs typeface="MiSans" panose="00000500000000000000" charset="-122"/>
              </a:defRPr>
            </a:lvl5pPr>
            <a:lvl6pPr marL="188595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Was ist Cyberkriminalität?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70000"/>
              </a:lnSpc>
              <a:buNone/>
            </a:pPr>
            <a:endParaRPr lang="en-US" altLang="zh-CN" sz="1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70000"/>
              </a:lnSpc>
              <a:buNone/>
            </a:pPr>
            <a:r>
              <a:rPr lang="en-US" altLang="zh-CN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Illegale Handlungen: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Hackerangriffe auf fremde Systeme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Diebstahl von Daten oder Passw</a:t>
            </a: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ö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rtern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Verbreitung von Viren oder Schadsoftware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Internetbetrug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Unbefugter Zugriff auf fremde Konten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algn="l">
              <a:lnSpc>
                <a:spcPct val="100000"/>
              </a:lnSpc>
              <a:buClrTx/>
              <a:buSzTx/>
              <a:buNone/>
              <a:tabLst>
                <a:tab pos="1609725" algn="l"/>
              </a:tabLst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Verbreitung privater Informationen anderer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Genauso wie:</a:t>
            </a:r>
            <a:endParaRPr lang="en-US" altLang="zh-CN" sz="28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8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in das Haus eines anderen einzubrechen und etwas zu 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 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stehlen.</a:t>
            </a:r>
            <a:endParaRPr lang="en-US" altLang="zh-CN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95605" y="908685"/>
            <a:ext cx="9204325" cy="5422265"/>
          </a:xfrm>
        </p:spPr>
        <p:txBody>
          <a:bodyPr>
            <a:normAutofit lnSpcReduction="20000"/>
          </a:bodyPr>
          <a:p>
            <a:pPr>
              <a:lnSpc>
                <a:spcPct val="125000"/>
              </a:lnSpc>
              <a:spcAft>
                <a:spcPct val="0"/>
              </a:spcAft>
            </a:pPr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Das entscheidende Kriterium zur Unterscheidung</a:t>
            </a:r>
            <a:endParaRPr lang="en-US" altLang="zh-CN" sz="32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>
              <a:lnSpc>
                <a:spcPct val="125000"/>
              </a:lnSpc>
              <a:spcAft>
                <a:spcPct val="0"/>
              </a:spcAft>
              <a:buNone/>
            </a:pPr>
            <a:r>
              <a:rPr lang="de-DE" sz="20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</a:t>
            </a:r>
            <a:r>
              <a:rPr lang="en-US" altLang="zh-CN" sz="24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Stichwort: Die Grenzlinie</a:t>
            </a:r>
            <a:endParaRPr lang="en-US" altLang="zh-CN" sz="24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>
              <a:lnSpc>
                <a:spcPct val="125000"/>
              </a:lnSpc>
              <a:spcAft>
                <a:spcPct val="0"/>
              </a:spcAft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1. Die Reichweitengrenze: Ist es „meins“ oder „fremd“?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457200">
              <a:lnSpc>
                <a:spcPct val="125000"/>
              </a:lnSpc>
              <a:spcAft>
                <a:spcPct val="0"/>
              </a:spcAft>
              <a:buNone/>
            </a:pP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– Mein 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oder f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remde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Computer</a:t>
            </a:r>
            <a:r>
              <a:rPr lang="de-DE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,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Accoun</a:t>
            </a:r>
            <a:r>
              <a:rPr lang="de-DE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,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Daten</a:t>
            </a:r>
            <a:r>
              <a:rPr lang="de-DE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,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Netzwerk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...</a:t>
            </a:r>
            <a:endParaRPr lang="en-US" altLang="zh-CN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457200">
              <a:lnSpc>
                <a:spcPct val="125000"/>
              </a:lnSpc>
              <a:spcAft>
                <a:spcPct val="0"/>
              </a:spcAft>
              <a:buNone/>
            </a:pP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2. Die Handlungsgrenze: Verteidigung oder Angriff?</a:t>
            </a:r>
            <a:endParaRPr lang="de-DE" sz="24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457200">
              <a:lnSpc>
                <a:spcPct val="125000"/>
              </a:lnSpc>
              <a:spcAft>
                <a:spcPct val="0"/>
              </a:spcAft>
              <a:buNone/>
            </a:pP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Defensive Ma</a:t>
            </a:r>
            <a:r>
              <a:rPr lang="de-DE" altLang="en-US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ß</a:t>
            </a: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nahmen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wie: Sch</a:t>
            </a:r>
            <a:r>
              <a:rPr lang="de-DE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ü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tzen Blockieren Erkennen Sichern</a:t>
            </a:r>
            <a:endParaRPr lang="de-DE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457200">
              <a:lnSpc>
                <a:spcPct val="125000"/>
              </a:lnSpc>
              <a:spcAft>
                <a:spcPct val="0"/>
              </a:spcAft>
              <a:buNone/>
            </a:pP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Aktiver Angriff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wie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: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Eindringen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Zerst</a:t>
            </a:r>
            <a:r>
              <a:rPr lang="en-US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ö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ren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Stehlen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Sich r</a:t>
            </a:r>
            <a:r>
              <a:rPr lang="en-US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ä</a:t>
            </a:r>
            <a:r>
              <a:rPr lang="en-US" altLang="zh-CN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chen</a:t>
            </a:r>
            <a:endParaRPr lang="en-US" altLang="zh-CN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32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</a:t>
            </a:r>
            <a:r>
              <a:rPr lang="de-DE" sz="2400" i="1">
                <a:ln>
                  <a:noFill/>
                  <a:prstDash val="sysDot"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 3.</a:t>
            </a:r>
            <a:r>
              <a:rPr lang="de-DE" sz="2400" i="1">
                <a:ln>
                  <a:noFill/>
                  <a:prstDash val="sysDot"/>
                </a:ln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Die Autorisierungsgrenze: Habe ich die Erlaubnis?</a:t>
            </a:r>
            <a:endParaRPr lang="de-DE" sz="2400" i="1">
              <a:ln>
                <a:noFill/>
                <a:prstDash val="sysDot"/>
              </a:ln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Digitale Selbstverteidigung:</a:t>
            </a:r>
            <a:endParaRPr lang="de-DE" sz="1600" b="1" i="1" u="sng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Innerhalb der eigenen Befugnisse handeln</a:t>
            </a:r>
            <a:endParaRPr lang="de-DE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→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 Ich habe das Recht, mein Eigentum zu sch</a:t>
            </a:r>
            <a:r>
              <a:rPr lang="de-DE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ü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tzen</a:t>
            </a:r>
            <a:endParaRPr lang="de-DE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Cyberkriminalit</a:t>
            </a:r>
            <a:r>
              <a:rPr lang="de-DE" altLang="en-US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ä</a:t>
            </a:r>
            <a:r>
              <a:rPr lang="de-DE" sz="16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t:</a:t>
            </a:r>
            <a:endParaRPr lang="de-DE" sz="1600" b="1" i="1" u="sng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Nicht autorisierte Handlungen</a:t>
            </a:r>
            <a:endParaRPr lang="de-DE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457200" lvl="2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altLang="en-US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→</a:t>
            </a:r>
            <a:r>
              <a:rPr lang="de-DE" sz="1600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 Niemand hat dir erlaubt, das zu tun</a:t>
            </a:r>
            <a:endParaRPr lang="de-DE" sz="16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0" lvl="1" indent="45720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endParaRPr lang="de-DE" sz="2400" i="1">
              <a:ln>
                <a:noFill/>
                <a:prstDash val="sysDot"/>
              </a:ln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  <a:sym typeface="+mn-ea"/>
            </a:endParaRPr>
          </a:p>
          <a:p>
            <a:pPr marL="0" lvl="1" indent="0">
              <a:lnSpc>
                <a:spcPct val="125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endParaRPr lang="de-DE" sz="3200" i="1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lvl="0" indent="0">
              <a:buFont typeface="Arial" panose="020B0604020202020204" pitchFamily="34" charset="0"/>
              <a:buNone/>
            </a:pPr>
            <a:endParaRPr lang="de-DE" sz="3200" i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Fallanalyse 1.</a:t>
            </a:r>
            <a:endParaRPr lang="en-US" altLang="zh-CN" sz="32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>
              <a:buNone/>
            </a:pPr>
            <a:r>
              <a:rPr lang="en-US" altLang="zh-CN" sz="32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Abwehr eines Cyberangriffs:</a:t>
            </a:r>
            <a:endParaRPr lang="en-US" altLang="zh-CN" sz="32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✅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Digitale Selbstverteidigung:</a:t>
            </a:r>
            <a:r>
              <a:rPr lang="de-DE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Netzwerktrennung, Firewall-Aktivierung</a:t>
            </a:r>
            <a:endParaRPr lang="de-DE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❌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Cyberkriminalit</a:t>
            </a: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ä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t: </a:t>
            </a:r>
            <a:r>
              <a:rPr lang="de-DE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Gegenangriff auf den Server des Angreifers</a:t>
            </a:r>
            <a:endParaRPr lang="de-DE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457200" lvl="1" indent="0" algn="l">
              <a:lnSpc>
                <a:spcPct val="100000"/>
              </a:lnSpc>
              <a:buNone/>
            </a:pPr>
            <a:r>
              <a:rPr lang="de-DE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⚖</a:t>
            </a:r>
            <a:r>
              <a:rPr lang="de-DE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Grauzone: </a:t>
            </a:r>
            <a:r>
              <a:rPr lang="de-DE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Verfolgung der IP-Adresse des Angreifers und Meldung an die Polizei</a:t>
            </a:r>
            <a:endParaRPr lang="de-DE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 sz="3200">
                <a:latin typeface="Arial Rounded MT Bold" panose="020F0704030504030204" charset="0"/>
                <a:cs typeface="Arial Rounded MT Bold" panose="020F0704030504030204" charset="0"/>
              </a:rPr>
              <a:t>Fallanalyse 2.</a:t>
            </a:r>
            <a:endParaRPr lang="en-US" altLang="zh-CN" sz="3200"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0" indent="0">
              <a:buNone/>
            </a:pPr>
            <a:r>
              <a:rPr lang="en-US" altLang="zh-CN" sz="32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Schutz des Online-Rufs</a:t>
            </a:r>
            <a:r>
              <a:rPr lang="de-DE" altLang="zh-CN" sz="3200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:</a:t>
            </a:r>
            <a:endParaRPr lang="en-US" altLang="zh-CN" sz="3200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✅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Digitale Selbstverteidigung: 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Aufforderung an die Website, falsche Informationen </a:t>
            </a:r>
            <a:r>
              <a:rPr lang="en-US" alt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ü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ber die eigene Person zu l</a:t>
            </a:r>
            <a:r>
              <a:rPr lang="en-US" alt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ö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schen</a:t>
            </a:r>
            <a:endParaRPr lang="en-US" altLang="zh-CN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❌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 Cyberkriminalit</a:t>
            </a:r>
            <a:r>
              <a:rPr lang="en-US" altLang="en-US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ä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t: 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Hacking der Website, um die f</a:t>
            </a:r>
            <a:r>
              <a:rPr lang="en-US" alt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ü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r Sie nachteiligen Inhalte zu l</a:t>
            </a:r>
            <a:r>
              <a:rPr lang="en-US" alt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ö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</a:rPr>
              <a:t>schen</a:t>
            </a:r>
            <a:endParaRPr lang="en-US" altLang="zh-CN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⚖</a:t>
            </a:r>
            <a:r>
              <a:rPr lang="de-DE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400" i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Grauzone: 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Einsatz einer DDoS-Attacke, um die Website, die Ger</a:t>
            </a:r>
            <a:r>
              <a:rPr 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ü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chte ver</a:t>
            </a:r>
            <a:r>
              <a:rPr lang="en-US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ö</a:t>
            </a:r>
            <a:r>
              <a:rPr lang="en-US" altLang="zh-CN" sz="240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Arial" panose="020B0604020202020204" pitchFamily="34" charset="0"/>
                <a:sym typeface="+mn-ea"/>
              </a:rPr>
              <a:t>ffentlicht, offline zu nehmen</a:t>
            </a:r>
            <a:endParaRPr lang="en-US" altLang="zh-CN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400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CONTENT_GROUP_TYPE" val="contentchip"/>
  <p:tag name="KSO_WM_UNIT_TYPE" val="i"/>
  <p:tag name="KSO_WM_UNIT_INDEX" val="5"/>
</p:tagLst>
</file>

<file path=ppt/tags/tag35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3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CONTENT_GROUP_TYPE" val="titlestyle"/>
  <p:tag name="KSO_WM_UNIT_TYPE" val="i"/>
  <p:tag name="KSO_WM_UNIT_INDEX" val="4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0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01"/>
</p:tagLst>
</file>

<file path=ppt/tags/tag10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01"/>
  <p:tag name="KSO_WM_SPECIAL_SOURCE" val="bdnull"/>
  <p:tag name="KSO_WM_TEMPLATE_THUMBS_INDEX" val="1、11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01_1*a*1"/>
  <p:tag name="KSO_WM_TEMPLATE_CATEGORY" val="custom"/>
  <p:tag name="KSO_WM_TEMPLATE_INDEX" val="2023030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104.xml><?xml version="1.0" encoding="utf-8"?>
<p:tagLst xmlns:p="http://schemas.openxmlformats.org/presentationml/2006/main">
  <p:tag name="KSO_WM_SLIDE_ID" val="custom20230301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01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11"/>
  <p:tag name="KSO_WM_SLIDE_CONTENT_AREA" val="{&quot;left&quot;:&quot;16.65&quot;,&quot;top&quot;:&quot;120.25&quot;,&quot;width&quot;:&quot;708.25&quot;,&quot;height&quot;:&quot;249.75&quot;}"/>
  <p:tag name="KSO_WM_SLIDE_THEME_ID" val="3303249"/>
  <p:tag name="KSO_WM_SLIDE_THEME_NAME" val="蓝色商务风主题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01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8">
      <a:dk1>
        <a:sysClr val="windowText" lastClr="000000"/>
      </a:dk1>
      <a:lt1>
        <a:sysClr val="window" lastClr="FFFFFF"/>
      </a:lt1>
      <a:dk2>
        <a:srgbClr val="010437"/>
      </a:dk2>
      <a:lt2>
        <a:srgbClr val="EFEFFF"/>
      </a:lt2>
      <a:accent1>
        <a:srgbClr val="007AD6"/>
      </a:accent1>
      <a:accent2>
        <a:srgbClr val="256BDB"/>
      </a:accent2>
      <a:accent3>
        <a:srgbClr val="128E96"/>
      </a:accent3>
      <a:accent4>
        <a:srgbClr val="3F48EF"/>
      </a:accent4>
      <a:accent5>
        <a:srgbClr val="6124D1"/>
      </a:accent5>
      <a:accent6>
        <a:srgbClr val="A67BFD"/>
      </a:accent6>
      <a:hlink>
        <a:srgbClr val="034A90"/>
      </a:hlink>
      <a:folHlink>
        <a:srgbClr val="954F72"/>
      </a:folHlink>
    </a:clrScheme>
    <a:fontScheme name="自定义 19">
      <a:majorFont>
        <a:latin typeface="MiSans Bold"/>
        <a:ea typeface="MiSans Bold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2161</Words>
  <Application>WPS 演示</Application>
  <PresentationFormat/>
  <Paragraphs>67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MiSans</vt:lpstr>
      <vt:lpstr>Wingdings</vt:lpstr>
      <vt:lpstr>Arial Rounded MT Bold</vt:lpstr>
      <vt:lpstr>Calibri</vt:lpstr>
      <vt:lpstr>MiSans Bold</vt:lpstr>
      <vt:lpstr>Microsoft YaHei</vt:lpstr>
      <vt:lpstr>Arial Unicode MS</vt:lpstr>
      <vt:lpstr>默认设计模板</vt:lpstr>
      <vt:lpstr>1_Office 主题</vt:lpstr>
      <vt:lpstr>添加文档标题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kimsun</dc:creator>
  <cp:lastModifiedBy>Darkside-િ</cp:lastModifiedBy>
  <cp:revision>5</cp:revision>
  <dcterms:created xsi:type="dcterms:W3CDTF">2025-07-23T00:59:00Z</dcterms:created>
  <dcterms:modified xsi:type="dcterms:W3CDTF">2025-11-10T13:55:02Z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2A7BC0D7978E4FD88DFB5EDD9124116D_12</vt:lpwstr>
  </property>
</Properties>
</file>